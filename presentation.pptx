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59" r:id="rId3"/>
    <p:sldId id="257" r:id="rId4"/>
    <p:sldId id="261" r:id="rId5"/>
    <p:sldId id="262" r:id="rId6"/>
    <p:sldId id="263" r:id="rId7"/>
    <p:sldId id="264" r:id="rId8"/>
    <p:sldId id="266" r:id="rId9"/>
    <p:sldId id="267" r:id="rId10"/>
    <p:sldId id="270" r:id="rId11"/>
    <p:sldId id="271" r:id="rId12"/>
    <p:sldId id="272" r:id="rId13"/>
    <p:sldId id="268" r:id="rId14"/>
    <p:sldId id="275" r:id="rId15"/>
    <p:sldId id="276" r:id="rId16"/>
    <p:sldId id="277" r:id="rId17"/>
    <p:sldId id="278" r:id="rId18"/>
    <p:sldId id="283" r:id="rId19"/>
    <p:sldId id="284" r:id="rId20"/>
    <p:sldId id="279" r:id="rId21"/>
    <p:sldId id="281" r:id="rId22"/>
    <p:sldId id="282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D5DB52-9796-CC8D-1916-FDF10371D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36777AB-16C5-D774-B873-A086F610E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CBAA43-CB19-41C6-6992-32ECEA57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2F09F-DE2B-48F1-9723-8C9C00278F61}" type="datetimeFigureOut">
              <a:rPr lang="fr-CI" smtClean="0"/>
              <a:t>15/12/2025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7D8A04-4A4C-FFFE-66F9-A58D626A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EC91EF-0D12-EEA9-807C-7B5310C32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9EC3-54FF-4504-8612-874B508A8377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71604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F9BA57-1128-EF29-621B-D840AEDF5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396DF0-11F6-CF4F-EAF0-40F50FF96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AF4822-03A1-D297-9AC7-1D69A61D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2F09F-DE2B-48F1-9723-8C9C00278F61}" type="datetimeFigureOut">
              <a:rPr lang="fr-CI" smtClean="0"/>
              <a:t>15/12/2025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46E564-9598-10DD-120C-AB6CB324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C3B33F-7DDC-4027-68B4-6B426293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9EC3-54FF-4504-8612-874B508A8377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91150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CA21AD-4F69-7703-405E-AE76BC2D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58C3A9-1AFF-B92C-8716-37B7A0F7B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24E40E-6864-6405-094A-B31F53608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2F09F-DE2B-48F1-9723-8C9C00278F61}" type="datetimeFigureOut">
              <a:rPr lang="fr-CI" smtClean="0"/>
              <a:t>15/12/2025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13CA1A-8CE2-55F7-F3D1-8FB30B2D5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D3FFC7-69DF-F20E-358B-1DD99F6A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9EC3-54FF-4504-8612-874B508A8377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46259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D186EB-D5F5-3C32-D371-8E050CCA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40B89E-DAE5-51FD-02BE-C26D9AC60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94CBA7-020B-001D-EB25-25C81334D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08FC19-20AF-DEE9-166D-233360968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2F09F-DE2B-48F1-9723-8C9C00278F61}" type="datetimeFigureOut">
              <a:rPr lang="fr-CI" smtClean="0"/>
              <a:t>15/12/2025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1E1648-AD73-E959-4FB5-5EC7E81FE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D21E07-3D9A-F537-2510-A926DFA1C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9EC3-54FF-4504-8612-874B508A8377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885201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54BA0A-2564-7A31-C8EB-7B309D374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00766A-203D-910E-CC04-61B418199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DAEB26-D4D1-A30A-5498-52C8B48F0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ECC9100-51D4-07D3-57E3-237B585AE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6B51B6D-8DE7-6613-9BD8-56B921820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953A764-3D31-6B9B-0C68-3AAD756E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2F09F-DE2B-48F1-9723-8C9C00278F61}" type="datetimeFigureOut">
              <a:rPr lang="fr-CI" smtClean="0"/>
              <a:t>15/12/2025</a:t>
            </a:fld>
            <a:endParaRPr lang="fr-CI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4E0EA66-7484-A71E-C16C-A9A1BD765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7A5A62-9712-1A9C-3F4B-847980A1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9EC3-54FF-4504-8612-874B508A8377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903100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BFB1C0-4965-E606-E551-A02A72A0A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E046249-428E-8932-1C6B-D710A624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2F09F-DE2B-48F1-9723-8C9C00278F61}" type="datetimeFigureOut">
              <a:rPr lang="fr-CI" smtClean="0"/>
              <a:t>15/12/2025</a:t>
            </a:fld>
            <a:endParaRPr lang="fr-CI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F821FE-D0C7-F301-8F46-732A7537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A3FBB19-6662-7F5B-C237-4A1876DF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9EC3-54FF-4504-8612-874B508A8377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35160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ABDBDD-09FF-0320-85B6-1BE14259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2F09F-DE2B-48F1-9723-8C9C00278F61}" type="datetimeFigureOut">
              <a:rPr lang="fr-CI" smtClean="0"/>
              <a:t>15/12/2025</a:t>
            </a:fld>
            <a:endParaRPr lang="fr-CI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4889BAC-C6DB-B2F2-AE66-D7A09987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DEBB18-84A1-C471-AB36-C64F5B52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9EC3-54FF-4504-8612-874B508A8377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623621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96D188-DC46-79CF-694C-0832880E2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41708-8D42-612F-099A-73E169041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639762-8141-7037-85F6-9D6D9C390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A83628-65AA-F330-72AB-9AF00870A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2F09F-DE2B-48F1-9723-8C9C00278F61}" type="datetimeFigureOut">
              <a:rPr lang="fr-CI" smtClean="0"/>
              <a:t>15/12/2025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BEFC1E-6673-05B3-9C19-ACAD39207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2725B3D-2EE9-7DD8-E355-FAA6F140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9EC3-54FF-4504-8612-874B508A8377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099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AC7FC9-0399-9FC8-C78B-BA207AC6D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AC5E9D1-8A43-DFB2-58CD-DADB527E2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F91EBD-EA0B-3C7C-638D-74E0A5DA1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AF7287-E78A-364A-FC8A-595E199D7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2F09F-DE2B-48F1-9723-8C9C00278F61}" type="datetimeFigureOut">
              <a:rPr lang="fr-CI" smtClean="0"/>
              <a:t>15/12/2025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28D6AD-DB95-745F-8BB6-F374B1E96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5B5935-57FB-87B5-2529-AF863EF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9EC3-54FF-4504-8612-874B508A8377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368355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3652B1-4866-DF17-8CC5-8ED274F6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F0E51B-A7A0-38D5-7ED1-D970CBF98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8864DD-29FB-A896-9CF7-FBAA017C4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2F09F-DE2B-48F1-9723-8C9C00278F61}" type="datetimeFigureOut">
              <a:rPr lang="fr-CI" smtClean="0"/>
              <a:t>15/12/2025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F50617-0DA3-FE64-A4BF-21CB79259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EE0F85-C640-0081-DE07-1AD1C28B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9EC3-54FF-4504-8612-874B508A8377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659117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7C03F39-D164-CC82-418E-38B906146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E692BE-3523-BAE0-443D-95C3EDB54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ABCDC1-151F-FAAD-86C6-F88FA6184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2F09F-DE2B-48F1-9723-8C9C00278F61}" type="datetimeFigureOut">
              <a:rPr lang="fr-CI" smtClean="0"/>
              <a:t>15/12/2025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0E1647-611E-22AC-554C-2999E522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E7C8C7-3F4F-FBCE-329E-C5A48AB80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9EC3-54FF-4504-8612-874B508A8377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240105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04670DF-ABEA-DCB9-6DAF-AB23F262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5C4D86-EC41-9DF8-8C7D-47F2E64FC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6135D7-A510-9B51-7B06-EB94F50D8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2F09F-DE2B-48F1-9723-8C9C00278F61}" type="datetimeFigureOut">
              <a:rPr lang="fr-CI" smtClean="0"/>
              <a:t>15/12/2025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EB4BAB-E56B-9DD5-DC41-E404F2010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71EB56-14DE-9549-E39D-E4ADD2D40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79EC3-54FF-4504-8612-874B508A8377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67882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Image 618">
            <a:extLst>
              <a:ext uri="{FF2B5EF4-FFF2-40B4-BE49-F238E27FC236}">
                <a16:creationId xmlns:a16="http://schemas.microsoft.com/office/drawing/2014/main" id="{D6ED8204-08A9-A64C-173B-EF57DBD07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9832" y="692110"/>
            <a:ext cx="1666876" cy="132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Image 637184472">
            <a:extLst>
              <a:ext uri="{FF2B5EF4-FFF2-40B4-BE49-F238E27FC236}">
                <a16:creationId xmlns:a16="http://schemas.microsoft.com/office/drawing/2014/main" id="{B07F4BA4-E597-9242-7A75-04CEC6A0D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1312756"/>
            <a:ext cx="2195513" cy="72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Image 1791561964">
            <a:extLst>
              <a:ext uri="{FF2B5EF4-FFF2-40B4-BE49-F238E27FC236}">
                <a16:creationId xmlns:a16="http://schemas.microsoft.com/office/drawing/2014/main" id="{3F58A0D4-8B0A-6441-6103-6C912ADA1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4" y="81831"/>
            <a:ext cx="2640011" cy="123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Image 1" descr="DSIB - Direction Générale du Budget et des Finances">
            <a:extLst>
              <a:ext uri="{FF2B5EF4-FFF2-40B4-BE49-F238E27FC236}">
                <a16:creationId xmlns:a16="http://schemas.microsoft.com/office/drawing/2014/main" id="{01F65D08-376E-8912-C9D0-859E1292D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518" y="547554"/>
            <a:ext cx="2195513" cy="133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 de texte 4">
            <a:extLst>
              <a:ext uri="{FF2B5EF4-FFF2-40B4-BE49-F238E27FC236}">
                <a16:creationId xmlns:a16="http://schemas.microsoft.com/office/drawing/2014/main" id="{F52304AE-17B9-60DF-1397-D94C2B0A4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118" y="2064264"/>
            <a:ext cx="2824318" cy="48605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ED7D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UNION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6A6A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DISCIPLINE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70AD4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TRAVAIL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Zone de texte 5">
            <a:extLst>
              <a:ext uri="{FF2B5EF4-FFF2-40B4-BE49-F238E27FC236}">
                <a16:creationId xmlns:a16="http://schemas.microsoft.com/office/drawing/2014/main" id="{E8E7DEF5-7F0C-5DA6-82C1-6F5AA6CD3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5706" y="339443"/>
            <a:ext cx="2824319" cy="3540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REPUBLIQUE DE CÔTE D’IVOIRE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Zone de texte 11">
            <a:extLst>
              <a:ext uri="{FF2B5EF4-FFF2-40B4-BE49-F238E27FC236}">
                <a16:creationId xmlns:a16="http://schemas.microsoft.com/office/drawing/2014/main" id="{F57EAD44-0493-43A1-05EF-E62F8993C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333" y="2157028"/>
            <a:ext cx="3134042" cy="50306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ANNEE ACADEMIQUE : 2024-2025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Zone de texte 12">
            <a:extLst>
              <a:ext uri="{FF2B5EF4-FFF2-40B4-BE49-F238E27FC236}">
                <a16:creationId xmlns:a16="http://schemas.microsoft.com/office/drawing/2014/main" id="{9409EA0B-EBD4-C068-F175-C0F607CAF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1544" y="2081656"/>
            <a:ext cx="2728912" cy="476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RAPPORT DE STAGE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Parchemin horizontal 18">
            <a:extLst>
              <a:ext uri="{FF2B5EF4-FFF2-40B4-BE49-F238E27FC236}">
                <a16:creationId xmlns:a16="http://schemas.microsoft.com/office/drawing/2014/main" id="{8B815DA4-408C-CA8E-392E-7962D3298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7395" y="2482533"/>
            <a:ext cx="8097918" cy="1615740"/>
          </a:xfrm>
          <a:prstGeom prst="horizontalScroll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THEME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MISE EN ŒUVRE D’UN OUTIL D’EVALUATION DES PRESTATAIRES DE SERVICES DE LA DGBF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Zone de texte 19">
            <a:extLst>
              <a:ext uri="{FF2B5EF4-FFF2-40B4-BE49-F238E27FC236}">
                <a16:creationId xmlns:a16="http://schemas.microsoft.com/office/drawing/2014/main" id="{A403CD4E-892C-A738-66D9-BEE400A9C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907" y="4182362"/>
            <a:ext cx="8358186" cy="685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BREVET DE TECHNICIEN SUPPERIEUR OPTION INFORMATIQUE DEVELOPPEUR D’APPLICATION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Zone de texte 20">
            <a:extLst>
              <a:ext uri="{FF2B5EF4-FFF2-40B4-BE49-F238E27FC236}">
                <a16:creationId xmlns:a16="http://schemas.microsoft.com/office/drawing/2014/main" id="{36A0216E-EE82-F5EA-252E-875A81731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148" y="5644259"/>
            <a:ext cx="2772252" cy="95869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IMPETRANTE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SORO WAGNIGUI ZELIKA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ETUDIANTE EN CYCLE BTS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Zone de texte 21">
            <a:extLst>
              <a:ext uri="{FF2B5EF4-FFF2-40B4-BE49-F238E27FC236}">
                <a16:creationId xmlns:a16="http://schemas.microsoft.com/office/drawing/2014/main" id="{F2061E86-3DB1-5921-8542-170E733EC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4" y="4868162"/>
            <a:ext cx="3134042" cy="89059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PROFESSEUR ENCADREUR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M. WADJA CESAR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PROFESSEUR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Zone de texte 22">
            <a:extLst>
              <a:ext uri="{FF2B5EF4-FFF2-40B4-BE49-F238E27FC236}">
                <a16:creationId xmlns:a16="http://schemas.microsoft.com/office/drawing/2014/main" id="{754D8EFA-5857-CBCE-9C2F-4B01AAD12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4088" y="4908043"/>
            <a:ext cx="2368550" cy="82227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MAÎTRE DE STAGE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M. COULIBALY ADAMA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CHARGE D’ETUDE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4814D6BA-725D-0621-F708-0DEAF3C7A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6233059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7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469169-9351-5B18-3671-5EBA4E4F5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3418" y="681037"/>
            <a:ext cx="3205163" cy="771526"/>
          </a:xfrm>
        </p:spPr>
        <p:txBody>
          <a:bodyPr>
            <a:normAutofit/>
          </a:bodyPr>
          <a:lstStyle/>
          <a:p>
            <a:pPr algn="ctr"/>
            <a:r>
              <a:rPr lang="fr-CI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 DÉTAILLÉ</a:t>
            </a:r>
            <a:endParaRPr lang="fr-CI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18BA7C-957B-F981-7A27-6322A41E9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463" y="1509713"/>
            <a:ext cx="10515600" cy="5005387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CI" b="1" dirty="0"/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I" b="1" dirty="0"/>
              <a:t>CONTEXTE DU PROJET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I" b="1" dirty="0"/>
              <a:t>PROBLEMATIQUE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I" b="1" dirty="0"/>
              <a:t>OBJECTIFS DU PROJET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I" b="1" dirty="0"/>
              <a:t>ARCHITECTURE TECHNIQUE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I" b="1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PRÉSENTATION DES OUTILS DE DÉVELOPPEMENT</a:t>
            </a:r>
            <a:endParaRPr lang="fr-CI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CI" b="1" dirty="0"/>
              <a:t>TECHNOLOGIES COMPLÉMENTAIRES</a:t>
            </a:r>
            <a:endParaRPr lang="fr-CI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SCHÉMA DE LA BASE DE DONNÉES</a:t>
            </a:r>
            <a:endParaRPr lang="fr-CI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CI" b="1" dirty="0"/>
              <a:t> FONCTIONNALITÉS PRINCIPALES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I" b="1" dirty="0"/>
              <a:t>PROCESSUS D'ÉVALUATION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I" b="1" dirty="0"/>
              <a:t> RÉSULTATS ET APPORTS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CONCLUSION</a:t>
            </a:r>
            <a:endParaRPr lang="fr-CI" dirty="0"/>
          </a:p>
          <a:p>
            <a:pPr>
              <a:buFont typeface="Wingdings" panose="05000000000000000000" pitchFamily="2" charset="2"/>
              <a:buChar char="Ø"/>
            </a:pPr>
            <a:endParaRPr lang="fr-CI" b="1" dirty="0"/>
          </a:p>
        </p:txBody>
      </p:sp>
    </p:spTree>
    <p:extLst>
      <p:ext uri="{BB962C8B-B14F-4D97-AF65-F5344CB8AC3E}">
        <p14:creationId xmlns:p14="http://schemas.microsoft.com/office/powerpoint/2010/main" val="179179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000"/>
                            </p:stCondLst>
                            <p:childTnLst>
                              <p:par>
                                <p:cTn id="7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0"/>
                            </p:stCondLst>
                            <p:childTnLst>
                              <p:par>
                                <p:cTn id="9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4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7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2000"/>
                            </p:stCondLst>
                            <p:childTnLst>
                              <p:par>
                                <p:cTn id="19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BC44EF-1CA9-C287-FC5E-5871DC5CD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369" y="422275"/>
            <a:ext cx="3243262" cy="1325563"/>
          </a:xfrm>
        </p:spPr>
        <p:txBody>
          <a:bodyPr/>
          <a:lstStyle/>
          <a:p>
            <a:pPr algn="ctr"/>
            <a:r>
              <a:rPr lang="fr-CI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2B1405-51E5-EAEE-3777-22EC78458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981" y="1581151"/>
            <a:ext cx="7598570" cy="4376737"/>
          </a:xfrm>
        </p:spPr>
        <p:txBody>
          <a:bodyPr/>
          <a:lstStyle/>
          <a:p>
            <a:pPr marL="0" indent="0" algn="just">
              <a:buNone/>
            </a:pPr>
            <a:r>
              <a:rPr lang="fr-CI" noProof="0" dirty="0"/>
              <a:t>Dans un contexte où la performance des prestataires est un enjeu majeur pour la qualité des services, ce rapport porte sur la mise en place d’un système d’</a:t>
            </a:r>
            <a:r>
              <a:rPr lang="fr-CI" dirty="0"/>
              <a:t>é</a:t>
            </a:r>
            <a:r>
              <a:rPr lang="fr-CI" noProof="0" dirty="0"/>
              <a:t>valuation des prestataires de services de la DGBF a travers des graphiques d’</a:t>
            </a:r>
            <a:r>
              <a:rPr lang="fr-CI" dirty="0"/>
              <a:t>é</a:t>
            </a:r>
            <a:r>
              <a:rPr lang="fr-CI" noProof="0" dirty="0" err="1"/>
              <a:t>volution</a:t>
            </a:r>
            <a:r>
              <a:rPr lang="fr-CI" noProof="0" dirty="0"/>
              <a:t>. cette solution permet d’analyser les performances au fil des années, d’identifier les points forts et les axes d’amélioration et des prises de décisions.</a:t>
            </a:r>
          </a:p>
        </p:txBody>
      </p:sp>
      <p:pic>
        <p:nvPicPr>
          <p:cNvPr id="1028" name="Picture 4" descr="chapeau de soutenance">
            <a:extLst>
              <a:ext uri="{FF2B5EF4-FFF2-40B4-BE49-F238E27FC236}">
                <a16:creationId xmlns:a16="http://schemas.microsoft.com/office/drawing/2014/main" id="{FE8FC2C3-8FCE-5EB2-818D-C24A12910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6393" y="2421731"/>
            <a:ext cx="2690046" cy="224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14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CB492B-809B-2B1C-566D-5D068ED9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500062"/>
            <a:ext cx="5257800" cy="1325563"/>
          </a:xfrm>
        </p:spPr>
        <p:txBody>
          <a:bodyPr/>
          <a:lstStyle/>
          <a:p>
            <a:r>
              <a:rPr lang="fr-CI" b="1" dirty="0">
                <a:solidFill>
                  <a:srgbClr val="FF0000"/>
                </a:solidFill>
              </a:rPr>
              <a:t>CONTEXTE DU PROJET</a:t>
            </a:r>
            <a:endParaRPr lang="fr-CI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E994BF-F722-CB2D-CBC1-D39397FC2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fr-FR" b="1" dirty="0">
                <a:solidFill>
                  <a:schemeClr val="accent1"/>
                </a:solidFill>
              </a:rPr>
              <a:t>La Direction Générale du Budget et des Finances (DGBF)</a:t>
            </a:r>
            <a:r>
              <a:rPr lang="fr-FR" dirty="0">
                <a:solidFill>
                  <a:schemeClr val="accent1"/>
                </a:solidFill>
              </a:rPr>
              <a:t> </a:t>
            </a:r>
          </a:p>
          <a:p>
            <a:pPr marL="0" indent="0" algn="just">
              <a:buNone/>
            </a:pPr>
            <a:r>
              <a:rPr lang="fr-FR" dirty="0"/>
              <a:t>travaille avec de nombreux prestataires de services externes pour divers projets et missions.</a:t>
            </a:r>
          </a:p>
          <a:p>
            <a:pPr marL="0" indent="0" algn="just">
              <a:buNone/>
            </a:pPr>
            <a:br>
              <a:rPr lang="fr-FR" dirty="0"/>
            </a:br>
            <a:r>
              <a:rPr lang="fr-FR" dirty="0"/>
              <a:t>Face à l'augmentation du nombre de prestataires et la nécessité d'assurer une qualité de service optimale, le sous directeur de la DSIB(DIRECTION DES SYSTÈME D’INFORMATION BUDGETAIRE) a exprimé le besoin d'un système automatisé d'évaluation et de suivi des performances de ces prestataires.</a:t>
            </a:r>
            <a:endParaRPr lang="fr-CI" dirty="0"/>
          </a:p>
          <a:p>
            <a:pPr marL="0" indent="0">
              <a:buNone/>
            </a:pP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1918264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41FF4-5F3B-91EA-AB10-49E20A8B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3900"/>
            <a:ext cx="10515600" cy="1325563"/>
          </a:xfrm>
        </p:spPr>
        <p:txBody>
          <a:bodyPr/>
          <a:lstStyle/>
          <a:p>
            <a:pPr algn="ctr"/>
            <a:r>
              <a:rPr lang="fr-CI" b="1" dirty="0">
                <a:solidFill>
                  <a:srgbClr val="FF0000"/>
                </a:solidFill>
              </a:rPr>
              <a:t>PROBLEMATIQUE</a:t>
            </a:r>
            <a:endParaRPr lang="fr-CI" dirty="0"/>
          </a:p>
        </p:txBody>
      </p:sp>
      <p:pic>
        <p:nvPicPr>
          <p:cNvPr id="3074" name="Picture 2" descr="Problematique PNG Transparent With Clear Background ID 97125 | TOPpng">
            <a:extLst>
              <a:ext uri="{FF2B5EF4-FFF2-40B4-BE49-F238E27FC236}">
                <a16:creationId xmlns:a16="http://schemas.microsoft.com/office/drawing/2014/main" id="{41B1EB81-BCF6-5049-2D2F-3DDAEE83A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671888"/>
            <a:ext cx="3028950" cy="198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2805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98AE6A-7FDE-A0F1-23ED-4C09D336B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966788"/>
            <a:ext cx="5157787" cy="823912"/>
          </a:xfrm>
        </p:spPr>
        <p:txBody>
          <a:bodyPr>
            <a:normAutofit fontScale="47500" lnSpcReduction="20000"/>
          </a:bodyPr>
          <a:lstStyle/>
          <a:p>
            <a:pPr algn="ctr"/>
            <a:endParaRPr lang="fr-CI" sz="2000" dirty="0">
              <a:solidFill>
                <a:srgbClr val="FF0000"/>
              </a:solidFill>
            </a:endParaRPr>
          </a:p>
          <a:p>
            <a:r>
              <a:rPr lang="fr-CI" sz="8000" dirty="0">
                <a:solidFill>
                  <a:srgbClr val="FF0000"/>
                </a:solidFill>
              </a:rPr>
              <a:t>🔍 </a:t>
            </a:r>
            <a:r>
              <a:rPr lang="fr-CI" sz="8000" dirty="0">
                <a:solidFill>
                  <a:schemeClr val="accent1"/>
                </a:solidFill>
              </a:rPr>
              <a:t>CONSTATS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972E09-5C3B-D007-BB91-A29E3BF3E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304" y="2206624"/>
            <a:ext cx="5157787" cy="36845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dirty="0"/>
              <a:t>• Évaluation manuelle chronophage et sujette aux erreurs</a:t>
            </a:r>
          </a:p>
          <a:p>
            <a:pPr marL="0" indent="0">
              <a:buNone/>
            </a:pPr>
            <a:r>
              <a:rPr lang="fr-FR" dirty="0"/>
              <a:t>• Difficulté de suivi des performances sur plusieurs années</a:t>
            </a:r>
          </a:p>
          <a:p>
            <a:pPr marL="0" indent="0">
              <a:buNone/>
            </a:pPr>
            <a:r>
              <a:rPr lang="fr-FR" dirty="0"/>
              <a:t>• Manque de transparence dans le processus d'évaluation</a:t>
            </a:r>
          </a:p>
          <a:p>
            <a:pPr marL="0" indent="0">
              <a:buNone/>
            </a:pPr>
            <a:r>
              <a:rPr lang="fr-FR" dirty="0"/>
              <a:t>• Absence d'historique centralisé des évaluations</a:t>
            </a:r>
          </a:p>
          <a:p>
            <a:pPr marL="0" indent="0">
              <a:buNone/>
            </a:pPr>
            <a:endParaRPr lang="fr-CI" dirty="0"/>
          </a:p>
          <a:p>
            <a:pPr marL="0" indent="0">
              <a:buNone/>
            </a:pPr>
            <a:endParaRPr lang="fr-CI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64320BF-BA6B-3CDD-40EA-650CF18BA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46798" y="966788"/>
            <a:ext cx="5183188" cy="823912"/>
          </a:xfrm>
        </p:spPr>
        <p:txBody>
          <a:bodyPr>
            <a:normAutofit fontScale="47500" lnSpcReduction="20000"/>
          </a:bodyPr>
          <a:lstStyle/>
          <a:p>
            <a:r>
              <a:rPr lang="fr-CI" sz="7600" dirty="0">
                <a:solidFill>
                  <a:srgbClr val="FF0000"/>
                </a:solidFill>
              </a:rPr>
              <a:t>💡</a:t>
            </a:r>
            <a:r>
              <a:rPr lang="fr-CI" sz="3600" dirty="0">
                <a:solidFill>
                  <a:srgbClr val="FF0000"/>
                </a:solidFill>
              </a:rPr>
              <a:t> </a:t>
            </a:r>
            <a:r>
              <a:rPr lang="fr-CI" sz="7600" dirty="0">
                <a:solidFill>
                  <a:schemeClr val="accent1"/>
                </a:solidFill>
              </a:rPr>
              <a:t>QUESTION CENTRALE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EFF2C27-77D7-A082-D2C6-41545779D1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206624"/>
            <a:ext cx="5183188" cy="36845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dirty="0"/>
              <a:t>Comment automatiser et centraliser le système d'évaluation des prestataires tout en garantissant transparence, traçabilité et objectivité ?</a:t>
            </a:r>
          </a:p>
          <a:p>
            <a:pPr marL="0" indent="0">
              <a:buNone/>
            </a:pPr>
            <a:endParaRPr lang="fr-CI" dirty="0"/>
          </a:p>
          <a:p>
            <a:pPr marL="0" indent="0">
              <a:buNone/>
            </a:pP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766595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AAC1B9-612F-0EEC-1FF2-B633F8F03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568" y="704056"/>
            <a:ext cx="4614863" cy="1325563"/>
          </a:xfrm>
        </p:spPr>
        <p:txBody>
          <a:bodyPr>
            <a:normAutofit/>
          </a:bodyPr>
          <a:lstStyle/>
          <a:p>
            <a:r>
              <a:rPr lang="fr-CI" b="1" dirty="0"/>
              <a:t> </a:t>
            </a:r>
            <a:r>
              <a:rPr lang="fr-CI" b="1" dirty="0">
                <a:solidFill>
                  <a:srgbClr val="FF0000"/>
                </a:solidFill>
              </a:rPr>
              <a:t>Objectifs du Projet</a:t>
            </a:r>
            <a:br>
              <a:rPr lang="fr-CI" b="1" dirty="0"/>
            </a:br>
            <a:endParaRPr lang="fr-CI" dirty="0"/>
          </a:p>
        </p:txBody>
      </p:sp>
      <p:pic>
        <p:nvPicPr>
          <p:cNvPr id="4100" name="Picture 4" descr="78 idées de Bonhomme | bonhomme blanc, fond d'écran téléphone, image  bonhomme">
            <a:extLst>
              <a:ext uri="{FF2B5EF4-FFF2-40B4-BE49-F238E27FC236}">
                <a16:creationId xmlns:a16="http://schemas.microsoft.com/office/drawing/2014/main" id="{D9CE7A13-8441-44CB-0EE6-F898F6F9F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615" y="2743994"/>
            <a:ext cx="2839320" cy="2452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BF970C8-21CC-66E8-639E-3FF99B761040}"/>
              </a:ext>
            </a:extLst>
          </p:cNvPr>
          <p:cNvSpPr txBox="1"/>
          <p:nvPr/>
        </p:nvSpPr>
        <p:spPr>
          <a:xfrm>
            <a:off x="3488530" y="2743994"/>
            <a:ext cx="40552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📊 </a:t>
            </a:r>
            <a:r>
              <a:rPr lang="fr-FR" sz="3200" dirty="0">
                <a:solidFill>
                  <a:schemeClr val="accent1"/>
                </a:solidFill>
              </a:rPr>
              <a:t>Automatisation</a:t>
            </a:r>
          </a:p>
          <a:p>
            <a:r>
              <a:rPr lang="fr-FR" sz="3200" dirty="0"/>
              <a:t>🔒 </a:t>
            </a:r>
            <a:r>
              <a:rPr lang="fr-FR" sz="3200" dirty="0">
                <a:solidFill>
                  <a:schemeClr val="accent1"/>
                </a:solidFill>
              </a:rPr>
              <a:t>Transparence</a:t>
            </a:r>
          </a:p>
          <a:p>
            <a:r>
              <a:rPr lang="fr-FR" sz="3200" dirty="0"/>
              <a:t>📈 </a:t>
            </a:r>
            <a:r>
              <a:rPr lang="fr-FR" sz="3200" dirty="0">
                <a:solidFill>
                  <a:schemeClr val="accent1"/>
                </a:solidFill>
              </a:rPr>
              <a:t>Suivi</a:t>
            </a:r>
          </a:p>
        </p:txBody>
      </p:sp>
    </p:spTree>
    <p:extLst>
      <p:ext uri="{BB962C8B-B14F-4D97-AF65-F5344CB8AC3E}">
        <p14:creationId xmlns:p14="http://schemas.microsoft.com/office/powerpoint/2010/main" val="5359829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5833F3-6308-1DAB-BA2B-682FF3A1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663" y="2766218"/>
            <a:ext cx="5605463" cy="1325563"/>
          </a:xfrm>
        </p:spPr>
        <p:txBody>
          <a:bodyPr/>
          <a:lstStyle/>
          <a:p>
            <a:r>
              <a:rPr lang="fr-CI" b="1" dirty="0">
                <a:solidFill>
                  <a:srgbClr val="FF0000"/>
                </a:solidFill>
              </a:rPr>
              <a:t>Architecture Technique</a:t>
            </a:r>
            <a:br>
              <a:rPr lang="fr-CI" b="1" dirty="0"/>
            </a:br>
            <a:endParaRPr lang="fr-CI" dirty="0"/>
          </a:p>
        </p:txBody>
      </p:sp>
      <p:pic>
        <p:nvPicPr>
          <p:cNvPr id="1026" name="Picture 2" descr="fondation icône vecteur conception modèles 40261003 Art vectoriel chez  Vecteezy">
            <a:extLst>
              <a:ext uri="{FF2B5EF4-FFF2-40B4-BE49-F238E27FC236}">
                <a16:creationId xmlns:a16="http://schemas.microsoft.com/office/drawing/2014/main" id="{757F7B02-9C50-02CF-DF0A-889D6E71A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831" y="331755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05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73EA6-5F80-72BB-BDC6-1BD069D677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01062" y="1496219"/>
            <a:ext cx="3005138" cy="3018631"/>
          </a:xfrm>
        </p:spPr>
        <p:txBody>
          <a:bodyPr/>
          <a:lstStyle/>
          <a:p>
            <a:pPr marL="0" indent="0" algn="ctr">
              <a:buNone/>
            </a:pPr>
            <a:r>
              <a:rPr lang="fr-FR" sz="3600" b="1" dirty="0">
                <a:solidFill>
                  <a:srgbClr val="0070C0"/>
                </a:solidFill>
              </a:rPr>
              <a:t>Frontend</a:t>
            </a:r>
          </a:p>
          <a:p>
            <a:pPr marL="0" indent="0" algn="ctr">
              <a:buNone/>
            </a:pPr>
            <a:r>
              <a:rPr lang="fr-FR" sz="3600" b="1" dirty="0"/>
              <a:t>React.js</a:t>
            </a:r>
            <a:endParaRPr lang="fr-FR" sz="3600" dirty="0"/>
          </a:p>
          <a:p>
            <a:pPr marL="0" indent="0" algn="ctr">
              <a:buNone/>
            </a:pPr>
            <a:r>
              <a:rPr lang="fr-FR" sz="3600" dirty="0"/>
              <a:t>Interface moderne et réactive</a:t>
            </a:r>
          </a:p>
          <a:p>
            <a:endParaRPr lang="fr-CI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A26984E-6E98-1D2E-03F1-0BFFE2C9B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066" y="1496219"/>
            <a:ext cx="2757488" cy="3160654"/>
          </a:xfrm>
        </p:spPr>
        <p:txBody>
          <a:bodyPr/>
          <a:lstStyle/>
          <a:p>
            <a:pPr marL="0" indent="0" algn="ctr">
              <a:buNone/>
            </a:pPr>
            <a:r>
              <a:rPr lang="fr-FR" sz="3600" b="1" dirty="0">
                <a:solidFill>
                  <a:srgbClr val="0070C0"/>
                </a:solidFill>
              </a:rPr>
              <a:t>Backend</a:t>
            </a:r>
          </a:p>
          <a:p>
            <a:pPr marL="0" indent="0" algn="ctr">
              <a:buNone/>
            </a:pPr>
            <a:r>
              <a:rPr lang="fr-FR" sz="3600" b="1" dirty="0"/>
              <a:t>LARAVEL</a:t>
            </a:r>
            <a:endParaRPr lang="fr-FR" sz="3600" dirty="0"/>
          </a:p>
          <a:p>
            <a:pPr marL="0" indent="0" algn="ctr">
              <a:buNone/>
            </a:pPr>
            <a:r>
              <a:rPr lang="fr-FR" sz="3600" dirty="0"/>
              <a:t>API REST sécurisée</a:t>
            </a:r>
          </a:p>
          <a:p>
            <a:pPr marL="0" indent="0">
              <a:buNone/>
            </a:pPr>
            <a:endParaRPr lang="fr-CI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B0BD4A8-8C77-8423-2A62-8B2D84401576}"/>
              </a:ext>
            </a:extLst>
          </p:cNvPr>
          <p:cNvSpPr txBox="1"/>
          <p:nvPr/>
        </p:nvSpPr>
        <p:spPr>
          <a:xfrm>
            <a:off x="4664868" y="1496219"/>
            <a:ext cx="26146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rgbClr val="0070C0"/>
                </a:solidFill>
              </a:rPr>
              <a:t>Base de données</a:t>
            </a:r>
          </a:p>
          <a:p>
            <a:pPr algn="ctr"/>
            <a:r>
              <a:rPr lang="fr-FR" sz="3600" b="1" dirty="0"/>
              <a:t>PostgreSQL</a:t>
            </a:r>
            <a:endParaRPr lang="fr-FR" sz="3600" dirty="0"/>
          </a:p>
          <a:p>
            <a:pPr algn="ctr"/>
            <a:r>
              <a:rPr lang="fr-FR" sz="3600" dirty="0"/>
              <a:t>Stockage robuste</a:t>
            </a:r>
            <a:endParaRPr lang="fr-CI" sz="3600" dirty="0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4275A8E1-9378-AF05-D74D-6F7D60A47E0D}"/>
              </a:ext>
            </a:extLst>
          </p:cNvPr>
          <p:cNvSpPr/>
          <p:nvPr/>
        </p:nvSpPr>
        <p:spPr>
          <a:xfrm>
            <a:off x="3128963" y="2514600"/>
            <a:ext cx="1700212" cy="800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E4736A1E-1BE3-10F0-7F0D-DAC8006A4D7E}"/>
              </a:ext>
            </a:extLst>
          </p:cNvPr>
          <p:cNvSpPr/>
          <p:nvPr/>
        </p:nvSpPr>
        <p:spPr>
          <a:xfrm>
            <a:off x="7279481" y="2514600"/>
            <a:ext cx="1700212" cy="800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63392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10C027-681A-058B-C7EE-9DCA7E36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87" y="27662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CI" dirty="0">
                <a:solidFill>
                  <a:srgbClr val="FF0000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PRÉSENTATION DES OUTILS DE DÉVELOPPEMENT</a:t>
            </a:r>
            <a:br>
              <a:rPr lang="fr-CI" dirty="0">
                <a:solidFill>
                  <a:srgbClr val="FF0000"/>
                </a:solidFill>
              </a:rPr>
            </a:br>
            <a:endParaRPr lang="fr-CI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912364"/>
      </p:ext>
    </p:extLst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7DCDA2-6D59-C8B0-CD2C-10980C927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2" y="290511"/>
            <a:ext cx="7727428" cy="6324601"/>
          </a:xfrm>
        </p:spPr>
        <p:txBody>
          <a:bodyPr>
            <a:normAutofit lnSpcReduction="10000"/>
          </a:bodyPr>
          <a:lstStyle/>
          <a:p>
            <a:r>
              <a:rPr lang="fr-CI" b="1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Langages de programmation</a:t>
            </a:r>
            <a:endParaRPr lang="fr-CI" dirty="0">
              <a:solidFill>
                <a:schemeClr val="accent1"/>
              </a:solidFill>
            </a:endParaRPr>
          </a:p>
          <a:p>
            <a:pPr lvl="0"/>
            <a:r>
              <a:rPr lang="fr-CI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PHP : langage côté serveur utilisé pour gérer la logique de l'application </a:t>
            </a:r>
            <a:endParaRPr lang="fr-CI" dirty="0"/>
          </a:p>
          <a:p>
            <a:pPr lvl="0"/>
            <a:r>
              <a:rPr lang="fr-CI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Javascript REACT: utilisés pour créer l’interface utilisateur (pages web, mise en page, design).</a:t>
            </a:r>
          </a:p>
          <a:p>
            <a:r>
              <a:rPr lang="fr-CI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git : outil de </a:t>
            </a:r>
            <a:r>
              <a:rPr lang="fr-CI" dirty="0" err="1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versionning</a:t>
            </a:r>
            <a:r>
              <a:rPr lang="fr-CI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 </a:t>
            </a:r>
          </a:p>
          <a:p>
            <a:r>
              <a:rPr lang="fr-CI" b="1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Base de données</a:t>
            </a:r>
            <a:endParaRPr lang="fr-CI" dirty="0">
              <a:solidFill>
                <a:schemeClr val="accent1"/>
              </a:solidFill>
            </a:endParaRPr>
          </a:p>
          <a:p>
            <a:pPr lvl="0"/>
            <a:r>
              <a:rPr lang="fr-CI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PostgreSQL: système de gestion de base de données relationnelle utilisé pour stocker toutes les informations.</a:t>
            </a:r>
          </a:p>
          <a:p>
            <a:r>
              <a:rPr lang="fr-CI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SQL: langage de base de données pour créer, interroger et gérer les tables </a:t>
            </a:r>
            <a:endParaRPr lang="fr-CI" dirty="0"/>
          </a:p>
          <a:p>
            <a:r>
              <a:rPr lang="fr-CI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fr-CI" b="1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Serveur </a:t>
            </a:r>
            <a:endParaRPr lang="fr-CI" dirty="0">
              <a:solidFill>
                <a:schemeClr val="accent1"/>
              </a:solidFill>
            </a:endParaRPr>
          </a:p>
          <a:p>
            <a:pPr lvl="0"/>
            <a:r>
              <a:rPr lang="fr-CI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docker:(</a:t>
            </a:r>
            <a:r>
              <a:rPr lang="fr-CI" dirty="0" err="1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microservice</a:t>
            </a:r>
            <a:r>
              <a:rPr lang="fr-CI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, conteneurisation)</a:t>
            </a:r>
            <a:endParaRPr lang="fr-CI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536A93B-280E-EBD0-C1BE-64AEA124D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39" y="290511"/>
            <a:ext cx="1321324" cy="101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is there any history behind this symbol/logo for react? : r ...">
            <a:extLst>
              <a:ext uri="{FF2B5EF4-FFF2-40B4-BE49-F238E27FC236}">
                <a16:creationId xmlns:a16="http://schemas.microsoft.com/office/drawing/2014/main" id="{A72CA8EB-9C08-0B07-0509-0717CF8FB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922" y="1512748"/>
            <a:ext cx="1007252" cy="73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logo github, icône git hub avec texte sur fond blanc 16833880 Art vectoriel  chez Vecteezy">
            <a:extLst>
              <a:ext uri="{FF2B5EF4-FFF2-40B4-BE49-F238E27FC236}">
                <a16:creationId xmlns:a16="http://schemas.microsoft.com/office/drawing/2014/main" id="{7FA5C11C-37DE-52EC-FFAC-0579FB7BF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971" y="2157414"/>
            <a:ext cx="1909492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Qu'est ce que PostgreSQL?">
            <a:extLst>
              <a:ext uri="{FF2B5EF4-FFF2-40B4-BE49-F238E27FC236}">
                <a16:creationId xmlns:a16="http://schemas.microsoft.com/office/drawing/2014/main" id="{7CEA9632-67AD-F190-730B-1E09C6B40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916" y="3291543"/>
            <a:ext cx="2644107" cy="111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2230836A-7BFD-0841-DB62-4AEED023A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970" y="5345252"/>
            <a:ext cx="3241809" cy="73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125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3739BE-65F0-75C0-4270-CC7DD696F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542924"/>
            <a:ext cx="10515600" cy="6057901"/>
          </a:xfrm>
        </p:spPr>
        <p:txBody>
          <a:bodyPr>
            <a:noAutofit/>
          </a:bodyPr>
          <a:lstStyle/>
          <a:p>
            <a:r>
              <a:rPr lang="fr-CI" b="1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Éditeur de code</a:t>
            </a:r>
            <a:endParaRPr lang="fr-CI" dirty="0">
              <a:solidFill>
                <a:schemeClr val="accent1"/>
              </a:solidFill>
            </a:endParaRPr>
          </a:p>
          <a:p>
            <a:pPr lvl="0"/>
            <a:r>
              <a:rPr lang="fr-CI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Visual Studio Code (VS Code) </a:t>
            </a:r>
          </a:p>
          <a:p>
            <a:pPr marL="0" lvl="0" indent="0">
              <a:buNone/>
            </a:pPr>
            <a:endParaRPr lang="fr-CI" dirty="0"/>
          </a:p>
          <a:p>
            <a:r>
              <a:rPr lang="fr-CI" b="1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Navigateur web</a:t>
            </a:r>
            <a:endParaRPr lang="fr-CI" dirty="0">
              <a:solidFill>
                <a:schemeClr val="accent1"/>
              </a:solidFill>
            </a:endParaRPr>
          </a:p>
          <a:p>
            <a:pPr lvl="0"/>
            <a:r>
              <a:rPr lang="fr-CI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Google Chrome </a:t>
            </a:r>
          </a:p>
          <a:p>
            <a:pPr lvl="0"/>
            <a:endParaRPr lang="fr-CI" dirty="0"/>
          </a:p>
          <a:p>
            <a:r>
              <a:rPr lang="fr-CI" b="1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Outil de test/client d’API</a:t>
            </a:r>
            <a:endParaRPr lang="fr-CI" dirty="0">
              <a:solidFill>
                <a:schemeClr val="accent1"/>
              </a:solidFill>
            </a:endParaRPr>
          </a:p>
          <a:p>
            <a:pPr lvl="0"/>
            <a:r>
              <a:rPr lang="fr-CI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Postman</a:t>
            </a:r>
          </a:p>
          <a:p>
            <a:pPr lvl="0"/>
            <a:endParaRPr lang="fr-CI" dirty="0"/>
          </a:p>
          <a:p>
            <a:r>
              <a:rPr lang="fr-CI" b="1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Framework</a:t>
            </a:r>
            <a:endParaRPr lang="fr-CI" dirty="0">
              <a:solidFill>
                <a:schemeClr val="accent1"/>
              </a:solidFill>
            </a:endParaRPr>
          </a:p>
          <a:p>
            <a:pPr lvl="0"/>
            <a:r>
              <a:rPr lang="fr-CI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laravel </a:t>
            </a:r>
            <a:endParaRPr lang="fr-CI" dirty="0"/>
          </a:p>
          <a:p>
            <a:pPr marL="0" indent="0">
              <a:buNone/>
            </a:pPr>
            <a:endParaRPr lang="fr-CI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7C46AC7-57A6-AEC5-279A-516A485CF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076" y="542924"/>
            <a:ext cx="1319211" cy="104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FE6E056F-59C4-618C-1D1A-40DE0F915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076" y="1878805"/>
            <a:ext cx="1476375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ostman Icon SVG Vector &amp; PNG Free Download | UXWing">
            <a:extLst>
              <a:ext uri="{FF2B5EF4-FFF2-40B4-BE49-F238E27FC236}">
                <a16:creationId xmlns:a16="http://schemas.microsoft.com/office/drawing/2014/main" id="{24179E95-F5E1-02EA-89DC-F3B46FA92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075" y="3648073"/>
            <a:ext cx="1476375" cy="1335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01C3DF0C-94E1-099E-F664-3DE001ED0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075" y="5022801"/>
            <a:ext cx="1476375" cy="1437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193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280740-F976-9CF9-8220-6EF90830E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962" y="803275"/>
            <a:ext cx="8220075" cy="1042986"/>
          </a:xfrm>
        </p:spPr>
        <p:txBody>
          <a:bodyPr>
            <a:normAutofit fontScale="90000"/>
          </a:bodyPr>
          <a:lstStyle/>
          <a:p>
            <a:r>
              <a:rPr lang="fr-CI" b="1" dirty="0">
                <a:solidFill>
                  <a:srgbClr val="FF0000"/>
                </a:solidFill>
              </a:rPr>
              <a:t>TECHNOLOGIES COMPLÉMENTAIRES</a:t>
            </a:r>
            <a:br>
              <a:rPr lang="fr-CI" b="1" dirty="0">
                <a:solidFill>
                  <a:srgbClr val="FF0000"/>
                </a:solidFill>
              </a:rPr>
            </a:br>
            <a:endParaRPr lang="fr-CI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B33192A-0892-3A3F-09F0-CAAB622A2FF4}"/>
              </a:ext>
            </a:extLst>
          </p:cNvPr>
          <p:cNvSpPr txBox="1"/>
          <p:nvPr/>
        </p:nvSpPr>
        <p:spPr>
          <a:xfrm>
            <a:off x="2103834" y="1503361"/>
            <a:ext cx="844034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fr-FR" sz="1800" b="1" dirty="0"/>
            </a:br>
            <a:r>
              <a:rPr lang="fr-FR" sz="2400" b="1" dirty="0">
                <a:solidFill>
                  <a:schemeClr val="accent1"/>
                </a:solidFill>
              </a:rPr>
              <a:t>REACT-Suite</a:t>
            </a:r>
            <a:r>
              <a:rPr lang="fr-FR" sz="2400" dirty="0"/>
              <a:t> - Bibliothèque de composants UI</a:t>
            </a:r>
            <a:br>
              <a:rPr lang="fr-FR" sz="2400" dirty="0"/>
            </a:br>
            <a:br>
              <a:rPr lang="fr-FR" sz="2400" dirty="0"/>
            </a:br>
            <a:r>
              <a:rPr lang="fr-FR" sz="2400" b="1" dirty="0">
                <a:solidFill>
                  <a:schemeClr val="accent1"/>
                </a:solidFill>
              </a:rPr>
              <a:t>RECHARTS</a:t>
            </a:r>
            <a:r>
              <a:rPr lang="fr-FR" sz="2400" b="1" dirty="0"/>
              <a:t> -</a:t>
            </a:r>
            <a:r>
              <a:rPr lang="fr-FR" sz="2400" dirty="0"/>
              <a:t> graphique (</a:t>
            </a:r>
            <a:r>
              <a:rPr lang="fr-FR" sz="2400" dirty="0" err="1"/>
              <a:t>courbe,bande</a:t>
            </a:r>
            <a:r>
              <a:rPr lang="fr-FR" sz="2400" dirty="0"/>
              <a:t>)</a:t>
            </a:r>
            <a:br>
              <a:rPr lang="fr-FR" sz="2400" dirty="0"/>
            </a:br>
            <a:br>
              <a:rPr lang="fr-FR" sz="2400" dirty="0"/>
            </a:br>
            <a:r>
              <a:rPr lang="fr-FR" sz="2400" b="1" dirty="0" err="1">
                <a:solidFill>
                  <a:schemeClr val="accent1"/>
                </a:solidFill>
              </a:rPr>
              <a:t>Framer</a:t>
            </a:r>
            <a:r>
              <a:rPr lang="fr-FR" sz="2400" b="1" dirty="0">
                <a:solidFill>
                  <a:schemeClr val="accent1"/>
                </a:solidFill>
              </a:rPr>
              <a:t> Motion </a:t>
            </a:r>
            <a:r>
              <a:rPr lang="fr-FR" sz="2400" dirty="0"/>
              <a:t>- Animations fluides </a:t>
            </a:r>
            <a:br>
              <a:rPr lang="fr-FR" sz="2400" b="1" dirty="0">
                <a:solidFill>
                  <a:schemeClr val="accent1"/>
                </a:solidFill>
              </a:rPr>
            </a:br>
            <a:r>
              <a:rPr lang="fr-FR" sz="2400" b="1" dirty="0">
                <a:solidFill>
                  <a:schemeClr val="accent1"/>
                </a:solidFill>
              </a:rPr>
              <a:t>Axios</a:t>
            </a:r>
            <a:r>
              <a:rPr lang="fr-FR" sz="2400" dirty="0">
                <a:solidFill>
                  <a:schemeClr val="accent1"/>
                </a:solidFill>
              </a:rPr>
              <a:t> </a:t>
            </a:r>
            <a:r>
              <a:rPr lang="fr-FR" sz="2400" dirty="0"/>
              <a:t>- communication API</a:t>
            </a:r>
            <a:br>
              <a:rPr lang="fr-FR" sz="2400" dirty="0"/>
            </a:br>
            <a:br>
              <a:rPr lang="fr-FR" sz="2400" dirty="0"/>
            </a:br>
            <a:r>
              <a:rPr lang="fr-FR" sz="2400" b="1" dirty="0">
                <a:solidFill>
                  <a:schemeClr val="accent1"/>
                </a:solidFill>
              </a:rPr>
              <a:t>Postman</a:t>
            </a:r>
            <a:r>
              <a:rPr lang="fr-FR" sz="2400" dirty="0"/>
              <a:t> - tester API sans front</a:t>
            </a:r>
            <a:br>
              <a:rPr lang="fr-FR" sz="2400" dirty="0"/>
            </a:br>
            <a:br>
              <a:rPr lang="fr-FR" sz="2400" dirty="0"/>
            </a:br>
            <a:r>
              <a:rPr lang="fr-FR" sz="2400" b="1" dirty="0" err="1">
                <a:solidFill>
                  <a:schemeClr val="accent1"/>
                </a:solidFill>
              </a:rPr>
              <a:t>React</a:t>
            </a:r>
            <a:r>
              <a:rPr lang="fr-FR" sz="2400" b="1" dirty="0">
                <a:solidFill>
                  <a:schemeClr val="accent1"/>
                </a:solidFill>
              </a:rPr>
              <a:t> Router</a:t>
            </a:r>
            <a:r>
              <a:rPr lang="fr-FR" sz="2400" dirty="0">
                <a:solidFill>
                  <a:schemeClr val="accent1"/>
                </a:solidFill>
              </a:rPr>
              <a:t> </a:t>
            </a:r>
            <a:r>
              <a:rPr lang="fr-FR" sz="2400" dirty="0"/>
              <a:t>- Navigation</a:t>
            </a:r>
            <a:br>
              <a:rPr lang="fr-FR" sz="2400" dirty="0"/>
            </a:br>
            <a:br>
              <a:rPr lang="fr-FR" sz="2400" dirty="0"/>
            </a:br>
            <a:r>
              <a:rPr lang="fr-FR" sz="2400" b="1" dirty="0">
                <a:solidFill>
                  <a:schemeClr val="accent1"/>
                </a:solidFill>
              </a:rPr>
              <a:t>LUCIDE-REACT</a:t>
            </a:r>
            <a:r>
              <a:rPr lang="fr-FR" sz="2400" dirty="0"/>
              <a:t> - icônes</a:t>
            </a:r>
            <a:br>
              <a:rPr lang="fr-CI" sz="1800" dirty="0"/>
            </a:b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244072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E75A5D-95B5-BAE9-D871-4287F83A0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160" y="1994694"/>
            <a:ext cx="7305675" cy="1325563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Schéma de la Base de Données</a:t>
            </a:r>
            <a:endParaRPr lang="fr-CI" dirty="0"/>
          </a:p>
        </p:txBody>
      </p:sp>
      <p:pic>
        <p:nvPicPr>
          <p:cNvPr id="3" name="Picture 2" descr="Qu'est ce que PostgreSQL?">
            <a:extLst>
              <a:ext uri="{FF2B5EF4-FFF2-40B4-BE49-F238E27FC236}">
                <a16:creationId xmlns:a16="http://schemas.microsoft.com/office/drawing/2014/main" id="{AE0B0D3E-C1FD-C04C-E401-B4C1F374F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709" y="3320257"/>
            <a:ext cx="4600575" cy="264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62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7487678-D5E9-7E93-28F0-E08808154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01" y="114300"/>
            <a:ext cx="11715888" cy="658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28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A94969-7E66-7915-8429-96BF3338A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5413"/>
            <a:ext cx="10515600" cy="1325563"/>
          </a:xfrm>
        </p:spPr>
        <p:txBody>
          <a:bodyPr/>
          <a:lstStyle/>
          <a:p>
            <a:pPr algn="ctr"/>
            <a:r>
              <a:rPr lang="fr-CI" b="1" dirty="0">
                <a:solidFill>
                  <a:srgbClr val="FF0000"/>
                </a:solidFill>
              </a:rPr>
              <a:t>Fonctionnalités Principales</a:t>
            </a:r>
            <a:br>
              <a:rPr lang="fr-CI" b="1" dirty="0"/>
            </a:b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418715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F91D7-54A4-FDEA-AE6C-FC98A8218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463"/>
            <a:ext cx="10515600" cy="6257926"/>
          </a:xfrm>
        </p:spPr>
        <p:txBody>
          <a:bodyPr>
            <a:noAutofit/>
          </a:bodyPr>
          <a:lstStyle/>
          <a:p>
            <a:pPr lvl="0"/>
            <a:r>
              <a:rPr lang="fr-CI" sz="2400" b="1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Gestion des prestataires: </a:t>
            </a:r>
            <a:r>
              <a:rPr lang="fr-CI" sz="2400" dirty="0"/>
              <a:t>ajout, modification, suppression</a:t>
            </a:r>
            <a:br>
              <a:rPr lang="fr-CI" sz="2400" dirty="0"/>
            </a:br>
            <a:br>
              <a:rPr lang="fr-CI" sz="2400" dirty="0"/>
            </a:br>
            <a:r>
              <a:rPr lang="fr-CI" sz="2400" b="1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Gestion des criteres : </a:t>
            </a:r>
            <a:r>
              <a:rPr lang="fr-CI" sz="2400" dirty="0"/>
              <a:t>ajout, modification, suppression</a:t>
            </a:r>
            <a:br>
              <a:rPr lang="fr-CI" sz="2400" dirty="0"/>
            </a:br>
            <a:r>
              <a:rPr lang="fr-CI" sz="2400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Associer un prestataire a un critère précis</a:t>
            </a:r>
            <a:br>
              <a:rPr lang="fr-CI" sz="2400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</a:br>
            <a:br>
              <a:rPr lang="fr-CI" sz="2400" dirty="0"/>
            </a:br>
            <a:r>
              <a:rPr lang="fr-CI" sz="2400" b="1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Evaluation du prestataire</a:t>
            </a:r>
            <a:br>
              <a:rPr lang="fr-CI" sz="2400" dirty="0"/>
            </a:br>
            <a:r>
              <a:rPr lang="fr-CI" sz="2400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Notation du criteres allant de 1 à 20</a:t>
            </a:r>
            <a:br>
              <a:rPr lang="fr-CI" sz="2400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</a:br>
            <a:br>
              <a:rPr lang="fr-CI" sz="2400" dirty="0"/>
            </a:br>
            <a:r>
              <a:rPr lang="fr-CI" sz="2400" b="1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Gestion du barème</a:t>
            </a:r>
            <a:br>
              <a:rPr lang="fr-CI" sz="2400" dirty="0"/>
            </a:br>
            <a:r>
              <a:rPr lang="fr-CI" sz="2400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Attribution d’une appreciation selon un barème dynamique</a:t>
            </a:r>
            <a:br>
              <a:rPr lang="fr-CI" sz="2400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</a:br>
            <a:br>
              <a:rPr lang="fr-CI" sz="2400" dirty="0"/>
            </a:br>
            <a:r>
              <a:rPr lang="fr-CI" sz="2400" b="1" dirty="0">
                <a:solidFill>
                  <a:schemeClr val="accent1"/>
                </a:solidFill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Gestion automatique de la moyenne</a:t>
            </a:r>
            <a:br>
              <a:rPr lang="fr-CI" sz="2400" dirty="0"/>
            </a:br>
            <a:r>
              <a:rPr lang="fr-CI" sz="2400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Calcul de moyenne générale des notes d’un prestataire</a:t>
            </a:r>
            <a:br>
              <a:rPr lang="fr-CI" sz="2400" dirty="0"/>
            </a:br>
            <a:r>
              <a:rPr lang="fr-CI" sz="2400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Retour automatiquement l’appréciation</a:t>
            </a:r>
            <a:br>
              <a:rPr lang="fr-CI" sz="2400" dirty="0"/>
            </a:br>
            <a:r>
              <a:rPr lang="fr-CI" sz="2400" dirty="0">
                <a:effectLst>
                  <a:outerShdw blurRad="63500" dist="50800" dir="5400000" sx="0" sy="0">
                    <a:srgbClr val="000000">
                      <a:alpha val="50000"/>
                    </a:srgbClr>
                  </a:outerShdw>
                </a:effectLst>
              </a:rPr>
              <a:t>Communication des résultats</a:t>
            </a:r>
            <a:endParaRPr lang="fr-CI" sz="2400" dirty="0"/>
          </a:p>
        </p:txBody>
      </p:sp>
    </p:spTree>
    <p:extLst>
      <p:ext uri="{BB962C8B-B14F-4D97-AF65-F5344CB8AC3E}">
        <p14:creationId xmlns:p14="http://schemas.microsoft.com/office/powerpoint/2010/main" val="307187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F5499E-D291-17AF-0DE5-B14CC0356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fr-CI" b="1" dirty="0">
                <a:solidFill>
                  <a:srgbClr val="FF0000"/>
                </a:solidFill>
              </a:rPr>
              <a:t>Processus d'Évaluation</a:t>
            </a:r>
            <a:br>
              <a:rPr lang="fr-CI" b="1" dirty="0"/>
            </a:br>
            <a:endParaRPr lang="fr-CI" dirty="0"/>
          </a:p>
        </p:txBody>
      </p:sp>
      <p:pic>
        <p:nvPicPr>
          <p:cNvPr id="8194" name="Picture 2" descr="Processus - Icônes utilisateur gratuites">
            <a:extLst>
              <a:ext uri="{FF2B5EF4-FFF2-40B4-BE49-F238E27FC236}">
                <a16:creationId xmlns:a16="http://schemas.microsoft.com/office/drawing/2014/main" id="{3551BB44-1138-82D7-F233-29766629E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8" y="357187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73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E1F952-AAA6-6546-CF42-B9C58672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1388"/>
          </a:xfrm>
        </p:spPr>
        <p:txBody>
          <a:bodyPr>
            <a:noAutofit/>
          </a:bodyPr>
          <a:lstStyle/>
          <a:p>
            <a:pPr marL="0" indent="0"/>
            <a:r>
              <a:rPr lang="fr-FR" sz="3600" b="1" dirty="0">
                <a:solidFill>
                  <a:srgbClr val="0070C0"/>
                </a:solidFill>
              </a:rPr>
              <a:t>1 Sélection du prestataire</a:t>
            </a:r>
            <a:br>
              <a:rPr lang="fr-FR" sz="3600" b="1" dirty="0">
                <a:solidFill>
                  <a:srgbClr val="0070C0"/>
                </a:solidFill>
              </a:rPr>
            </a:br>
            <a:r>
              <a:rPr lang="fr-FR" sz="3600" dirty="0"/>
              <a:t>Choix du prestataire à évaluer et de l'année d'évaluation</a:t>
            </a:r>
            <a:br>
              <a:rPr lang="fr-FR" sz="3600" dirty="0"/>
            </a:br>
            <a:r>
              <a:rPr lang="fr-FR" sz="3600" b="1" dirty="0">
                <a:solidFill>
                  <a:srgbClr val="0070C0"/>
                </a:solidFill>
              </a:rPr>
              <a:t>2 Chargement des critères</a:t>
            </a:r>
            <a:br>
              <a:rPr lang="fr-FR" sz="3600" b="1" dirty="0">
                <a:solidFill>
                  <a:srgbClr val="0070C0"/>
                </a:solidFill>
              </a:rPr>
            </a:br>
            <a:r>
              <a:rPr lang="fr-FR" sz="3600" dirty="0"/>
              <a:t>Choix des critères selon le type de prestataire</a:t>
            </a:r>
            <a:br>
              <a:rPr lang="fr-FR" sz="3600" dirty="0"/>
            </a:br>
            <a:r>
              <a:rPr lang="fr-FR" sz="3600" b="1" dirty="0">
                <a:solidFill>
                  <a:srgbClr val="0070C0"/>
                </a:solidFill>
              </a:rPr>
              <a:t>3 Attribution des notes</a:t>
            </a:r>
            <a:br>
              <a:rPr lang="fr-FR" sz="3600" b="1" dirty="0">
                <a:solidFill>
                  <a:srgbClr val="0070C0"/>
                </a:solidFill>
              </a:rPr>
            </a:br>
            <a:r>
              <a:rPr lang="fr-FR" sz="3600" dirty="0"/>
              <a:t>Notation sur chaque critère avec justification si note &lt; 5</a:t>
            </a:r>
            <a:br>
              <a:rPr lang="fr-FR" sz="3600" dirty="0"/>
            </a:br>
            <a:r>
              <a:rPr lang="fr-FR" sz="3600" b="1" dirty="0">
                <a:solidFill>
                  <a:srgbClr val="0070C0"/>
                </a:solidFill>
              </a:rPr>
              <a:t>4 Calcul et appréciation</a:t>
            </a:r>
            <a:br>
              <a:rPr lang="fr-FR" sz="3600" b="1" dirty="0">
                <a:solidFill>
                  <a:srgbClr val="0070C0"/>
                </a:solidFill>
              </a:rPr>
            </a:br>
            <a:r>
              <a:rPr lang="fr-FR" sz="3600" dirty="0"/>
              <a:t>Calcul automatique de la moyenne et attribution de l'appréciation selon le barème</a:t>
            </a:r>
            <a:br>
              <a:rPr lang="fr-FR" sz="3600" dirty="0"/>
            </a:br>
            <a:r>
              <a:rPr lang="fr-FR" sz="3600" b="1" dirty="0">
                <a:solidFill>
                  <a:srgbClr val="0070C0"/>
                </a:solidFill>
              </a:rPr>
              <a:t>5 Enregistrement et consultation</a:t>
            </a:r>
            <a:br>
              <a:rPr lang="fr-CI" sz="3600" dirty="0"/>
            </a:br>
            <a:endParaRPr lang="fr-CI" sz="3600" dirty="0"/>
          </a:p>
        </p:txBody>
      </p:sp>
    </p:spTree>
    <p:extLst>
      <p:ext uri="{BB962C8B-B14F-4D97-AF65-F5344CB8AC3E}">
        <p14:creationId xmlns:p14="http://schemas.microsoft.com/office/powerpoint/2010/main" val="754446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1BF060-4796-C4FE-AB81-62B1E2D862B7}"/>
              </a:ext>
            </a:extLst>
          </p:cNvPr>
          <p:cNvSpPr txBox="1">
            <a:spLocks/>
          </p:cNvSpPr>
          <p:nvPr/>
        </p:nvSpPr>
        <p:spPr>
          <a:xfrm>
            <a:off x="1603462" y="1522494"/>
            <a:ext cx="2789108" cy="20035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600" b="1" dirty="0"/>
              <a:t>⚡</a:t>
            </a:r>
            <a:r>
              <a:rPr lang="fr-FR" sz="2600" b="1" dirty="0">
                <a:solidFill>
                  <a:srgbClr val="00B0F0"/>
                </a:solidFill>
              </a:rPr>
              <a:t>Gain de temps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fr-FR" sz="2600" dirty="0"/>
            </a:br>
            <a:r>
              <a:rPr lang="fr-FR" sz="2600" dirty="0"/>
              <a:t>Réduction du temps d'évaluation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I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9E5210-2706-3745-3D7D-AE0461387D02}"/>
              </a:ext>
            </a:extLst>
          </p:cNvPr>
          <p:cNvSpPr txBox="1">
            <a:spLocks/>
          </p:cNvSpPr>
          <p:nvPr/>
        </p:nvSpPr>
        <p:spPr>
          <a:xfrm>
            <a:off x="7254168" y="3731615"/>
            <a:ext cx="2642015" cy="164380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600" b="1" dirty="0"/>
              <a:t>🎯</a:t>
            </a:r>
            <a:r>
              <a:rPr lang="fr-FR" sz="2600" b="1" dirty="0">
                <a:solidFill>
                  <a:srgbClr val="00B0F0"/>
                </a:solidFill>
              </a:rPr>
              <a:t>Précision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fr-FR" sz="2600" dirty="0"/>
            </a:br>
            <a:r>
              <a:rPr lang="fr-FR" sz="2600" dirty="0"/>
              <a:t>Calculs automatiques sans erreur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I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8B4B14BD-9F40-66A5-7CDB-4EA24FE174CF}"/>
              </a:ext>
            </a:extLst>
          </p:cNvPr>
          <p:cNvSpPr txBox="1">
            <a:spLocks/>
          </p:cNvSpPr>
          <p:nvPr/>
        </p:nvSpPr>
        <p:spPr>
          <a:xfrm>
            <a:off x="7254168" y="1522494"/>
            <a:ext cx="2789108" cy="16438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b="1" dirty="0"/>
              <a:t>📊</a:t>
            </a:r>
            <a:r>
              <a:rPr lang="fr-FR" sz="2400" b="1" dirty="0">
                <a:solidFill>
                  <a:srgbClr val="00B0F0"/>
                </a:solidFill>
              </a:rPr>
              <a:t>Transparence</a:t>
            </a:r>
          </a:p>
          <a:p>
            <a:pPr marL="0" indent="0">
              <a:buNone/>
            </a:pPr>
            <a:br>
              <a:rPr lang="fr-FR" sz="2400" dirty="0"/>
            </a:br>
            <a:r>
              <a:rPr lang="fr-FR" sz="2400" dirty="0"/>
              <a:t>Traçabilité complète des évaluations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60C86A-1CFD-DB11-C19E-FADDB350F5DC}"/>
              </a:ext>
            </a:extLst>
          </p:cNvPr>
          <p:cNvSpPr txBox="1"/>
          <p:nvPr/>
        </p:nvSpPr>
        <p:spPr>
          <a:xfrm>
            <a:off x="999396" y="3429000"/>
            <a:ext cx="39972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🎓 </a:t>
            </a:r>
            <a:r>
              <a:rPr lang="fr-FR" sz="2400" b="1" dirty="0">
                <a:solidFill>
                  <a:srgbClr val="00B0F0"/>
                </a:solidFill>
              </a:rPr>
              <a:t>Compétences Acquises</a:t>
            </a:r>
          </a:p>
          <a:p>
            <a:pPr algn="ctr"/>
            <a:r>
              <a:rPr lang="fr-FR" sz="2400" dirty="0"/>
              <a:t>• Développement Full-Stack (</a:t>
            </a:r>
            <a:r>
              <a:rPr lang="fr-FR" sz="2400" dirty="0" err="1"/>
              <a:t>React</a:t>
            </a:r>
            <a:r>
              <a:rPr lang="fr-FR" sz="2400" dirty="0"/>
              <a:t> + Laravel)</a:t>
            </a:r>
            <a:br>
              <a:rPr lang="fr-FR" sz="2400" dirty="0"/>
            </a:br>
            <a:r>
              <a:rPr lang="fr-FR" sz="2400" dirty="0"/>
              <a:t>•    Conception de bases de données relationnelles</a:t>
            </a:r>
          </a:p>
          <a:p>
            <a:pPr algn="ctr"/>
            <a:r>
              <a:rPr lang="fr-FR" sz="2400" dirty="0"/>
              <a:t>• Gestion de projet et méthodologie Agile</a:t>
            </a:r>
            <a:br>
              <a:rPr lang="fr-FR" sz="2400" dirty="0"/>
            </a:br>
            <a:endParaRPr lang="fr-CI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B1F6158-9593-A16A-906A-BFB8C3095921}"/>
              </a:ext>
            </a:extLst>
          </p:cNvPr>
          <p:cNvSpPr txBox="1"/>
          <p:nvPr/>
        </p:nvSpPr>
        <p:spPr>
          <a:xfrm>
            <a:off x="2555104" y="382012"/>
            <a:ext cx="60936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I" sz="4000" b="1" dirty="0">
                <a:solidFill>
                  <a:srgbClr val="FF0000"/>
                </a:solidFill>
              </a:rPr>
              <a:t>Résultats et Apports</a:t>
            </a:r>
            <a:br>
              <a:rPr lang="fr-CI" sz="4000" b="1" dirty="0">
                <a:solidFill>
                  <a:srgbClr val="FF0000"/>
                </a:solidFill>
              </a:rPr>
            </a:br>
            <a:endParaRPr lang="fr-CI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36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2C5C1E-A3FE-E0F0-4CAC-B627E24B50B1}"/>
              </a:ext>
            </a:extLst>
          </p:cNvPr>
          <p:cNvSpPr txBox="1">
            <a:spLocks/>
          </p:cNvSpPr>
          <p:nvPr/>
        </p:nvSpPr>
        <p:spPr>
          <a:xfrm>
            <a:off x="1956195" y="482130"/>
            <a:ext cx="7429500" cy="14779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>
                <a:solidFill>
                  <a:srgbClr val="FF0000"/>
                </a:solidFill>
              </a:rPr>
              <a:t>🎯 Conclusion</a:t>
            </a:r>
            <a:br>
              <a:rPr lang="fr-FR" b="1" dirty="0">
                <a:solidFill>
                  <a:srgbClr val="FF0000"/>
                </a:solidFill>
              </a:rPr>
            </a:br>
            <a:endParaRPr lang="fr-CI" dirty="0">
              <a:solidFill>
                <a:srgbClr val="FF0000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468819-DFBF-9A56-319E-6485EDF5DB91}"/>
              </a:ext>
            </a:extLst>
          </p:cNvPr>
          <p:cNvSpPr txBox="1">
            <a:spLocks/>
          </p:cNvSpPr>
          <p:nvPr/>
        </p:nvSpPr>
        <p:spPr>
          <a:xfrm>
            <a:off x="1184673" y="1911432"/>
            <a:ext cx="3868340" cy="822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✅ </a:t>
            </a:r>
            <a:r>
              <a:rPr lang="fr-FR" dirty="0">
                <a:solidFill>
                  <a:srgbClr val="00B0F0"/>
                </a:solidFill>
              </a:rPr>
              <a:t>Objectifs Atteints</a:t>
            </a:r>
          </a:p>
          <a:p>
            <a:endParaRPr lang="fr-CI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2F5D5C6-9D18-10B7-AB25-BE270BC11290}"/>
              </a:ext>
            </a:extLst>
          </p:cNvPr>
          <p:cNvSpPr txBox="1">
            <a:spLocks/>
          </p:cNvSpPr>
          <p:nvPr/>
        </p:nvSpPr>
        <p:spPr>
          <a:xfrm>
            <a:off x="1394220" y="2919088"/>
            <a:ext cx="3658793" cy="2717801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I" dirty="0"/>
              <a:t>Evaluer les prestataires sur des criteres </a:t>
            </a:r>
          </a:p>
          <a:p>
            <a:r>
              <a:rPr lang="fr-CI" dirty="0"/>
              <a:t>Liste des prestataires</a:t>
            </a:r>
          </a:p>
          <a:p>
            <a:r>
              <a:rPr lang="fr-CI" dirty="0"/>
              <a:t>Consulter les résultats</a:t>
            </a:r>
          </a:p>
          <a:p>
            <a:r>
              <a:rPr lang="fr-CI" dirty="0"/>
              <a:t>Liste des prestataires </a:t>
            </a:r>
            <a:r>
              <a:rPr lang="fr-CI" dirty="0" err="1"/>
              <a:t>evalués</a:t>
            </a:r>
            <a:endParaRPr lang="fr-CI" dirty="0"/>
          </a:p>
          <a:p>
            <a:r>
              <a:rPr lang="fr-CI" dirty="0"/>
              <a:t>Générer un graphique d’évolution</a:t>
            </a:r>
          </a:p>
          <a:p>
            <a:endParaRPr lang="fr-CI" dirty="0"/>
          </a:p>
          <a:p>
            <a:endParaRPr lang="fr-CI" dirty="0"/>
          </a:p>
          <a:p>
            <a:endParaRPr lang="fr-CI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5FE758B-592B-53F7-1649-DE9A40EFBF17}"/>
              </a:ext>
            </a:extLst>
          </p:cNvPr>
          <p:cNvSpPr txBox="1">
            <a:spLocks/>
          </p:cNvSpPr>
          <p:nvPr/>
        </p:nvSpPr>
        <p:spPr>
          <a:xfrm>
            <a:off x="7000717" y="1725776"/>
            <a:ext cx="4335225" cy="822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🚀 </a:t>
            </a:r>
            <a:r>
              <a:rPr lang="fr-FR" dirty="0">
                <a:solidFill>
                  <a:srgbClr val="00B0F0"/>
                </a:solidFill>
              </a:rPr>
              <a:t>Perspectives d'Évolution</a:t>
            </a:r>
          </a:p>
          <a:p>
            <a:endParaRPr lang="fr-CI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255FEEA-A6C2-68FE-188D-4A9EFFD9787C}"/>
              </a:ext>
            </a:extLst>
          </p:cNvPr>
          <p:cNvSpPr txBox="1">
            <a:spLocks/>
          </p:cNvSpPr>
          <p:nvPr/>
        </p:nvSpPr>
        <p:spPr>
          <a:xfrm>
            <a:off x="7000717" y="2929011"/>
            <a:ext cx="4162581" cy="276344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Intégration de notifications automatiques</a:t>
            </a:r>
          </a:p>
          <a:p>
            <a:r>
              <a:rPr lang="fr-FR" dirty="0"/>
              <a:t>Générer des rapports PDF</a:t>
            </a:r>
          </a:p>
          <a:p>
            <a:r>
              <a:rPr lang="fr-FR" dirty="0"/>
              <a:t>classer les prestataires selon les services rendus</a:t>
            </a:r>
          </a:p>
          <a:p>
            <a:r>
              <a:rPr lang="fr-FR" dirty="0"/>
              <a:t>Système de recommandation de prestataires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29021378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EED4E2-1F76-F5AD-FB2D-8626DFB8C207}"/>
              </a:ext>
            </a:extLst>
          </p:cNvPr>
          <p:cNvSpPr txBox="1">
            <a:spLocks/>
          </p:cNvSpPr>
          <p:nvPr/>
        </p:nvSpPr>
        <p:spPr>
          <a:xfrm>
            <a:off x="2152650" y="1531146"/>
            <a:ext cx="7886700" cy="4077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/>
              <a:t>Merci ! 🙏</a:t>
            </a:r>
            <a:br>
              <a:rPr lang="fr-FR" b="1" dirty="0"/>
            </a:br>
            <a:br>
              <a:rPr lang="fr-FR" b="1" dirty="0"/>
            </a:br>
            <a:r>
              <a:rPr lang="fr-FR" b="1" dirty="0"/>
              <a:t>pour votre attention</a:t>
            </a:r>
            <a:br>
              <a:rPr lang="fr-FR" dirty="0"/>
            </a:br>
            <a:br>
              <a:rPr lang="fr-FR" dirty="0"/>
            </a:br>
            <a:r>
              <a:rPr lang="fr-FR" dirty="0"/>
              <a:t>DGBF-PERFORM - Évaluation des Prestataires</a:t>
            </a:r>
            <a:br>
              <a:rPr lang="fr-FR" dirty="0"/>
            </a:b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2156334968"/>
      </p:ext>
    </p:extLst>
  </p:cSld>
  <p:clrMapOvr>
    <a:masterClrMapping/>
  </p:clrMapOvr>
  <p:transition spd="slow">
    <p:comb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1710</TotalTime>
  <Words>768</Words>
  <Application>Microsoft Office PowerPoint</Application>
  <PresentationFormat>Grand écran</PresentationFormat>
  <Paragraphs>110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Thème Office</vt:lpstr>
      <vt:lpstr>Présentation PowerPoint</vt:lpstr>
      <vt:lpstr>PLAN DÉTAILLÉ</vt:lpstr>
      <vt:lpstr>Introduction</vt:lpstr>
      <vt:lpstr>CONTEXTE DU PROJET</vt:lpstr>
      <vt:lpstr>PROBLEMATIQUE</vt:lpstr>
      <vt:lpstr>Présentation PowerPoint</vt:lpstr>
      <vt:lpstr> Objectifs du Projet </vt:lpstr>
      <vt:lpstr>Architecture Technique </vt:lpstr>
      <vt:lpstr>Présentation PowerPoint</vt:lpstr>
      <vt:lpstr>PRÉSENTATION DES OUTILS DE DÉVELOPPEMENT </vt:lpstr>
      <vt:lpstr>Présentation PowerPoint</vt:lpstr>
      <vt:lpstr>Présentation PowerPoint</vt:lpstr>
      <vt:lpstr>TECHNOLOGIES COMPLÉMENTAIRES </vt:lpstr>
      <vt:lpstr>Schéma de la Base de Données</vt:lpstr>
      <vt:lpstr>Présentation PowerPoint</vt:lpstr>
      <vt:lpstr>Fonctionnalités Principales </vt:lpstr>
      <vt:lpstr>Gestion des prestataires: ajout, modification, suppression  Gestion des criteres : ajout, modification, suppression Associer un prestataire a un critère précis  Evaluation du prestataire Notation du criteres allant de 1 à 20  Gestion du barème Attribution d’une appreciation selon un barème dynamique  Gestion automatique de la moyenne Calcul de moyenne générale des notes d’un prestataire Retour automatiquement l’appréciation Communication des résultats</vt:lpstr>
      <vt:lpstr>Processus d'Évaluation </vt:lpstr>
      <vt:lpstr>1 Sélection du prestataire Choix du prestataire à évaluer et de l'année d'évaluation 2 Chargement des critères Choix des critères selon le type de prestataire 3 Attribution des notes Notation sur chaque critère avec justification si note &lt; 5 4 Calcul et appréciation Calcul automatique de la moyenne et attribution de l'appréciation selon le barème 5 Enregistrement et consultation 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SORO WAGNIGUI</dc:creator>
  <cp:lastModifiedBy>SORO WAGNIGUI</cp:lastModifiedBy>
  <cp:revision>4</cp:revision>
  <dcterms:created xsi:type="dcterms:W3CDTF">2025-12-13T12:43:22Z</dcterms:created>
  <dcterms:modified xsi:type="dcterms:W3CDTF">2025-12-15T19:30:15Z</dcterms:modified>
</cp:coreProperties>
</file>